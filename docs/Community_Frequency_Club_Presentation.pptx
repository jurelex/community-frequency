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nva Sans Bold" charset="1" panose="020B0803030501040103"/>
      <p:regular r:id="rId20"/>
    </p:embeddedFont>
    <p:embeddedFont>
      <p:font typeface="Calibri (MS)" charset="1" panose="020F0502020204030204"/>
      <p:regular r:id="rId21"/>
    </p:embeddedFont>
    <p:embeddedFont>
      <p:font typeface="Cinzel Bold" charset="1" panose="00000800000000000000"/>
      <p:regular r:id="rId22"/>
    </p:embeddedFont>
    <p:embeddedFont>
      <p:font typeface="Zing Rust Base" charset="1" panose="00000500000000000000"/>
      <p:regular r:id="rId23"/>
    </p:embeddedFont>
    <p:embeddedFont>
      <p:font typeface="Cinzel Decorative Bold" charset="1" panose="00000800000000000000"/>
      <p:regular r:id="rId24"/>
    </p:embeddedFont>
    <p:embeddedFont>
      <p:font typeface="Calibri (MS) Bold Italics" charset="1" panose="020F07020304040A0204"/>
      <p:regular r:id="rId25"/>
    </p:embeddedFont>
    <p:embeddedFont>
      <p:font typeface="Calibri (MS) Bold" charset="1" panose="020F0702030404030204"/>
      <p:regular r:id="rId26"/>
    </p:embeddedFont>
    <p:embeddedFont>
      <p:font typeface="Cinzel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6854" y="-162665"/>
            <a:ext cx="1209922" cy="10742423"/>
            <a:chOff x="0" y="0"/>
            <a:chExt cx="318663" cy="2829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663" cy="2829280"/>
            </a:xfrm>
            <a:custGeom>
              <a:avLst/>
              <a:gdLst/>
              <a:ahLst/>
              <a:cxnLst/>
              <a:rect r="r" b="b" t="t" l="l"/>
              <a:pathLst>
                <a:path h="2829280" w="318663">
                  <a:moveTo>
                    <a:pt x="0" y="0"/>
                  </a:moveTo>
                  <a:lnTo>
                    <a:pt x="318663" y="0"/>
                  </a:lnTo>
                  <a:lnTo>
                    <a:pt x="318663" y="2829280"/>
                  </a:lnTo>
                  <a:lnTo>
                    <a:pt x="0" y="2829280"/>
                  </a:lnTo>
                  <a:close/>
                </a:path>
              </a:pathLst>
            </a:custGeom>
            <a:solidFill>
              <a:srgbClr val="5D6D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8663" cy="2867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1607" y="6420245"/>
            <a:ext cx="16230600" cy="3193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9"/>
              </a:lnSpc>
            </a:pPr>
            <a:r>
              <a:rPr lang="en-US" sz="3799" b="true">
                <a:solidFill>
                  <a:srgbClr val="5D6D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Exploring practical mesh communications for rural Andean and rainforest communities in Peru.</a:t>
            </a:r>
          </a:p>
          <a:p>
            <a:pPr algn="r">
              <a:lnSpc>
                <a:spcPts val="5312"/>
              </a:lnSpc>
            </a:pPr>
          </a:p>
          <a:p>
            <a:pPr algn="ctr">
              <a:lnSpc>
                <a:spcPts val="5312"/>
              </a:lnSpc>
            </a:pPr>
            <a:r>
              <a:rPr lang="en-US" sz="4249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Renato Patron — WY1B</a:t>
            </a:r>
          </a:p>
          <a:p>
            <a:pPr algn="ctr">
              <a:lnSpc>
                <a:spcPts val="5312"/>
              </a:lnSpc>
            </a:pPr>
            <a:r>
              <a:rPr lang="en-US" sz="4249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9608" y="1084666"/>
            <a:ext cx="15925800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COMMUNITY</a:t>
            </a:r>
            <a:r>
              <a:rPr lang="en-US" b="true" sz="9200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 FREQUENCY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1607" y="4687838"/>
            <a:ext cx="15925800" cy="100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People Connecte</a:t>
            </a:r>
            <a:r>
              <a:rPr lang="en-US" sz="5199">
                <a:solidFill>
                  <a:srgbClr val="000000"/>
                </a:solidFill>
                <a:latin typeface="Zing Rust Base"/>
                <a:ea typeface="Zing Rust Base"/>
                <a:cs typeface="Zing Rust Base"/>
                <a:sym typeface="Zing Rust Base"/>
              </a:rPr>
              <a:t>d Further.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6891" y="2603404"/>
            <a:ext cx="15534218" cy="608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952">
                <a:solidFill>
                  <a:srgbClr val="0E2C30"/>
                </a:solidFill>
                <a:latin typeface="Calibri (MS)"/>
                <a:ea typeface="Calibri (MS)"/>
                <a:cs typeface="Calibri (MS)"/>
                <a:sym typeface="Calibri (MS)"/>
              </a:rPr>
              <a:t>In rural Andean and rainforest regions of Peru, geographic isolation can leave communities outside conventional communication infrastructure.</a:t>
            </a:r>
          </a:p>
          <a:p>
            <a:pPr algn="l">
              <a:lnSpc>
                <a:spcPts val="4742"/>
              </a:lnSpc>
            </a:pPr>
          </a:p>
          <a:p>
            <a:pPr algn="l">
              <a:lnSpc>
                <a:spcPts val="4742"/>
              </a:lnSpc>
            </a:pPr>
            <a:r>
              <a:rPr lang="en-US" sz="3952">
                <a:solidFill>
                  <a:srgbClr val="0E2C30"/>
                </a:solidFill>
                <a:latin typeface="Calibri (MS)"/>
                <a:ea typeface="Calibri (MS)"/>
                <a:cs typeface="Calibri (MS)"/>
                <a:sym typeface="Calibri (MS)"/>
              </a:rPr>
              <a:t>Limited cellular coverage, Internet access, power, and difficult terrain can make communication much harder.</a:t>
            </a:r>
          </a:p>
          <a:p>
            <a:pPr algn="l">
              <a:lnSpc>
                <a:spcPts val="4742"/>
              </a:lnSpc>
            </a:pPr>
          </a:p>
          <a:p>
            <a:pPr algn="l">
              <a:lnSpc>
                <a:spcPts val="4742"/>
              </a:lnSpc>
            </a:pPr>
            <a:r>
              <a:rPr lang="en-US" sz="3952">
                <a:solidFill>
                  <a:srgbClr val="0E2C30"/>
                </a:solidFill>
                <a:latin typeface="Calibri (MS)"/>
                <a:ea typeface="Calibri (MS)"/>
                <a:cs typeface="Calibri (MS)"/>
                <a:sym typeface="Calibri (MS)"/>
              </a:rPr>
              <a:t>For communities already facing economic and geographic disadvantages, lack of connectivity can become another barrier to opportunity, education, emergency assistance, health services, and connection with the outside world.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63098" y="1426282"/>
            <a:ext cx="13161804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true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Th</a:t>
            </a:r>
            <a:r>
              <a:rPr lang="en-US" b="true" sz="41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e problem we are trying to understand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0899" y="2107533"/>
            <a:ext cx="17486201" cy="668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952">
                <a:solidFill>
                  <a:srgbClr val="0E2C30"/>
                </a:solidFill>
                <a:latin typeface="Calibri (MS)"/>
                <a:ea typeface="Calibri (MS)"/>
                <a:cs typeface="Calibri (MS)"/>
                <a:sym typeface="Calibri (MS)"/>
              </a:rPr>
              <a:t>Community Frequency is not a project to test mesh networking in the United States and then look for somewhere to use it.</a:t>
            </a:r>
          </a:p>
          <a:p>
            <a:pPr algn="l">
              <a:lnSpc>
                <a:spcPts val="4742"/>
              </a:lnSpc>
            </a:pPr>
          </a:p>
          <a:p>
            <a:pPr algn="l">
              <a:lnSpc>
                <a:spcPts val="4742"/>
              </a:lnSpc>
            </a:pPr>
            <a:r>
              <a:rPr lang="en-US" sz="3952">
                <a:solidFill>
                  <a:srgbClr val="0E2C30"/>
                </a:solidFill>
                <a:latin typeface="Calibri (MS)"/>
                <a:ea typeface="Calibri (MS)"/>
                <a:cs typeface="Calibri (MS)"/>
                <a:sym typeface="Calibri (MS)"/>
              </a:rPr>
              <a:t>The intended beneficiaries are rural and geographically isolated communities in Peru.</a:t>
            </a:r>
          </a:p>
          <a:p>
            <a:pPr algn="l">
              <a:lnSpc>
                <a:spcPts val="4742"/>
              </a:lnSpc>
            </a:pPr>
          </a:p>
          <a:p>
            <a:pPr algn="l">
              <a:lnSpc>
                <a:spcPts val="4742"/>
              </a:lnSpc>
            </a:pPr>
            <a:r>
              <a:rPr lang="en-US" sz="3952">
                <a:solidFill>
                  <a:srgbClr val="0E2C30"/>
                </a:solidFill>
                <a:latin typeface="Calibri (MS)"/>
                <a:ea typeface="Calibri (MS)"/>
                <a:cs typeface="Calibri (MS)"/>
                <a:sym typeface="Calibri (MS)"/>
              </a:rPr>
              <a:t>The technical question is specific:</a:t>
            </a:r>
          </a:p>
          <a:p>
            <a:pPr algn="l">
              <a:lnSpc>
                <a:spcPts val="4742"/>
              </a:lnSpc>
            </a:pPr>
          </a:p>
          <a:p>
            <a:pPr algn="ctr">
              <a:lnSpc>
                <a:spcPts val="4742"/>
              </a:lnSpc>
            </a:pPr>
            <a:r>
              <a:rPr lang="en-US" b="true" sz="3952" i="true">
                <a:solidFill>
                  <a:srgbClr val="0E2C3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Can inexpensive, low-power mesh networking provide useful communications without requiring access to commercial cellular or Internet networks?</a:t>
            </a:r>
          </a:p>
          <a:p>
            <a:pPr algn="l">
              <a:lnSpc>
                <a:spcPts val="4742"/>
              </a:lnSpc>
            </a:pPr>
          </a:p>
          <a:p>
            <a:pPr algn="l">
              <a:lnSpc>
                <a:spcPts val="4742"/>
              </a:lnSpc>
            </a:pPr>
            <a:r>
              <a:rPr lang="en-US" sz="3952">
                <a:solidFill>
                  <a:srgbClr val="0E2C30"/>
                </a:solidFill>
                <a:latin typeface="Calibri (MS)"/>
                <a:ea typeface="Calibri (MS)"/>
                <a:cs typeface="Calibri (MS)"/>
                <a:sym typeface="Calibri (MS)"/>
              </a:rPr>
              <a:t>The technology is a means to address a real community problem.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73400" y="942975"/>
            <a:ext cx="1214120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Th</a:t>
            </a: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is is not a generic mesh experiment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10213"/>
            <a:ext cx="15534218" cy="763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The first mission has three objectives: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1. Establish the regulatory baseline in Peru</a:t>
            </a: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Determine what hardware, frequencies, power levels, antennas, and configurations can legally be used.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2. Learn and test in Lima</a:t>
            </a: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Meet the Peruvian mesh community, exchange experience, compare Meshtastic and MeshCore, and conduct initial testing.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3. Test in northern Peru</a:t>
            </a: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Travel to a community near the Peru–Ecuador border and evaluate the technology in a real rural environment.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78421" y="942975"/>
            <a:ext cx="673115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Step Z</a:t>
            </a: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ero — Peru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77450"/>
            <a:ext cx="15534218" cy="647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Before field deployment, Community Frequency will research Peruvian telecommunications requirements and seek meetings/interviews with the Ministerio de Transportes y Comunicaciones (MTC).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The goal is to establish a practical baseline for equipment and configurations that can be legally used in Peru.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Local hobbyists already using particular boards demonstrates availability and community interest — it does not by itself establish regulatory approval.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U.S. rules cannot simply be assumed to apply in Peru.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85820" y="942975"/>
            <a:ext cx="1151636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Objectiv</a:t>
            </a: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e 1 — Establish what is legal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6891" y="1981324"/>
            <a:ext cx="15534218" cy="763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Lima will be the first technical learning environment.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We will meet with members of the Peruvian mesh community to exchange experience and understand what is already being done locally.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A key comparison will be </a:t>
            </a:r>
            <a:r>
              <a:rPr lang="en-US" sz="3852" b="true">
                <a:solidFill>
                  <a:srgbClr val="5D6D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Meshtastic</a:t>
            </a: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 vs. </a:t>
            </a:r>
            <a:r>
              <a:rPr lang="en-US" sz="3852" b="true">
                <a:solidFill>
                  <a:srgbClr val="5D6D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MeshCore</a:t>
            </a: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Both approaches will be tested where practical to examine coverage, reliability, multi-hop behavior, configuration, power requirements, and operational usability.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The goal is not to declare a winner. It is to learn which approach may be more appropriate for the intended problem.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1553421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Objectiv</a:t>
            </a: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e 2 — Lima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6891" y="1741008"/>
            <a:ext cx="15534218" cy="834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will then move to northern Peru and meet with a community near the Peru–Ecuador border.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This changes the test from a controlled/urban environment to a real community and a very different terrain and infrastructure context.</a:t>
            </a: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We will observe: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142"/>
              </a:lnSpc>
            </a:pPr>
            <a:r>
              <a:rPr lang="en-US" sz="34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Actual communication needs</a:t>
            </a:r>
          </a:p>
          <a:p>
            <a:pPr algn="l">
              <a:lnSpc>
                <a:spcPts val="4142"/>
              </a:lnSpc>
            </a:pPr>
            <a:r>
              <a:rPr lang="en-US" sz="34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Terrain and coverage</a:t>
            </a:r>
          </a:p>
          <a:p>
            <a:pPr algn="l">
              <a:lnSpc>
                <a:spcPts val="4142"/>
              </a:lnSpc>
            </a:pPr>
            <a:r>
              <a:rPr lang="en-US" sz="34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Node placement and elevation</a:t>
            </a:r>
          </a:p>
          <a:p>
            <a:pPr algn="l">
              <a:lnSpc>
                <a:spcPts val="4142"/>
              </a:lnSpc>
            </a:pPr>
            <a:r>
              <a:rPr lang="en-US" sz="34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Multi-hop performance</a:t>
            </a:r>
          </a:p>
          <a:p>
            <a:pPr algn="l">
              <a:lnSpc>
                <a:spcPts val="4142"/>
              </a:lnSpc>
            </a:pPr>
            <a:r>
              <a:rPr lang="en-US" sz="34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Reliability</a:t>
            </a:r>
          </a:p>
          <a:p>
            <a:pPr algn="l">
              <a:lnSpc>
                <a:spcPts val="4142"/>
              </a:lnSpc>
            </a:pPr>
            <a:r>
              <a:rPr lang="en-US" sz="34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Power requirements</a:t>
            </a:r>
          </a:p>
          <a:p>
            <a:pPr algn="l">
              <a:lnSpc>
                <a:spcPts val="4142"/>
              </a:lnSpc>
            </a:pPr>
            <a:r>
              <a:rPr lang="en-US" sz="34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Ease of use and maintenance</a:t>
            </a:r>
          </a:p>
          <a:p>
            <a:pPr algn="l">
              <a:lnSpc>
                <a:spcPts val="4142"/>
              </a:lnSpc>
            </a:pPr>
            <a:r>
              <a:rPr lang="en-US" sz="34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Whether the technology provides meaningful value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76891" y="942975"/>
            <a:ext cx="1553421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Obj</a:t>
            </a: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ective 3 — Northern Peru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00275"/>
            <a:ext cx="15534218" cy="705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This is the equipment we would like to take to Peru — not equipment that is already acquired or approved for operation.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2 × BQ G3 nodes</a:t>
            </a: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2 × external antennas for the BQ G3s</a:t>
            </a: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4 × Heltec V4</a:t>
            </a: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2 × Heltec T114</a:t>
            </a: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4 × GPS/GNSS kits for V4/T114</a:t>
            </a: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2 × Seeed Studio Solar Pro 2 nodes</a:t>
            </a: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6 × Muzi Works 915 MHz antennas</a:t>
            </a: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6 × batteries</a:t>
            </a: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Cables, connectors, mounting and field accessories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1553421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Initi</a:t>
            </a: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al Equipment Target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00275"/>
            <a:ext cx="15534218" cy="705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Where practical, enclosures, mounts, brackets, and other mechanical parts will be 3D printed.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This helps keep the equipment inexpensive and adaptable rather than relying entirely on proprietary enclosures and accessories.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will document the hardware and field configurations so that successful designs can be reproduced or improved later.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The objective is not expensive infrastructure. It is practical, affordable equipment that could eventually make sense in the environments we are trying to serve.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1553421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Buil</a:t>
            </a: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ding the equipment ourselves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4108" y="1898433"/>
            <a:ext cx="15534218" cy="807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A successful test is not simply one that achieves a long radio range.</a:t>
            </a:r>
          </a:p>
          <a:p>
            <a:pPr algn="l">
              <a:lnSpc>
                <a:spcPts val="4502"/>
              </a:lnSpc>
            </a:pP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We need to learn whether a system can be:</a:t>
            </a:r>
          </a:p>
          <a:p>
            <a:pPr algn="l">
              <a:lnSpc>
                <a:spcPts val="4502"/>
              </a:lnSpc>
            </a:pP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Reliable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Affordable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Low-power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Practical to deploy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Usable by people who are not radio engineers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Maintainable locally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Appropriate for the terrain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Useful for the community's actual needs</a:t>
            </a:r>
          </a:p>
          <a:p>
            <a:pPr algn="l">
              <a:lnSpc>
                <a:spcPts val="4502"/>
              </a:lnSpc>
            </a:pP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If the technology does not meet those requirements, that is a useful result too.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1553421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Wh</a:t>
            </a: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at will determine success?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0198" y="1993189"/>
            <a:ext cx="16311221" cy="807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2"/>
              </a:lnSpc>
            </a:pPr>
            <a:r>
              <a:rPr lang="en-US" sz="3752" b="true">
                <a:solidFill>
                  <a:srgbClr val="5D6D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knowledge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Advice on RF, antennas, propagation, power, Meshtastic, MeshCore, field testing, and experimental design.</a:t>
            </a:r>
          </a:p>
          <a:p>
            <a:pPr algn="l">
              <a:lnSpc>
                <a:spcPts val="4502"/>
              </a:lnSpc>
            </a:pPr>
          </a:p>
          <a:p>
            <a:pPr algn="l">
              <a:lnSpc>
                <a:spcPts val="4502"/>
              </a:lnSpc>
            </a:pPr>
            <a:r>
              <a:rPr lang="en-US" sz="3752" b="true">
                <a:solidFill>
                  <a:srgbClr val="5D6D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Equipment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Loaners, evaluation hardware, antennas, batteries, GPS/GNSS equipment, or other useful field gear.</a:t>
            </a:r>
          </a:p>
          <a:p>
            <a:pPr algn="l">
              <a:lnSpc>
                <a:spcPts val="4502"/>
              </a:lnSpc>
            </a:pPr>
          </a:p>
          <a:p>
            <a:pPr algn="l">
              <a:lnSpc>
                <a:spcPts val="4502"/>
              </a:lnSpc>
            </a:pPr>
            <a:r>
              <a:rPr lang="en-US" sz="3752" b="true">
                <a:solidFill>
                  <a:srgbClr val="5D6D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Connections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People with experience in rural communications, emergency communications, community projects, Indigenous communities, or international field work.</a:t>
            </a:r>
          </a:p>
          <a:p>
            <a:pPr algn="l">
              <a:lnSpc>
                <a:spcPts val="4502"/>
              </a:lnSpc>
            </a:pPr>
          </a:p>
          <a:p>
            <a:pPr algn="l">
              <a:lnSpc>
                <a:spcPts val="4502"/>
              </a:lnSpc>
            </a:pPr>
            <a:r>
              <a:rPr lang="en-US" sz="3752" b="true">
                <a:solidFill>
                  <a:srgbClr val="5D6D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Sponsorship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Help purchasing the equipment needed to conduct Step Zero.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1553421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How an amateur-radio club can help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6891" y="2443163"/>
            <a:ext cx="15534218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Community Frequency is an independent project. The initial equipment must be purchased before the field work can happen.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The GoFundMe is intended to help cover equipment and field expenses, including the mesh nodes, antennas, GPS/GNSS hardware, batteries, accessories, and materials for 3D-printed components.</a:t>
            </a:r>
          </a:p>
          <a:p>
            <a:pPr algn="l">
              <a:lnSpc>
                <a:spcPts val="4622"/>
              </a:lnSpc>
            </a:pPr>
          </a:p>
          <a:p>
            <a:pPr algn="l">
              <a:lnSpc>
                <a:spcPts val="4622"/>
              </a:lnSpc>
            </a:pPr>
            <a:r>
              <a:rPr lang="en-US" sz="38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The target equipment list represents what we would like to take into the field. Funding will determine how much of that kit we can actually acquire.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42975"/>
            <a:ext cx="1553421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E2C3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Why we need funding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653901"/>
            <a:ext cx="1615192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361165" y="1856184"/>
            <a:ext cx="15534218" cy="780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2"/>
              </a:lnSpc>
            </a:pPr>
            <a:r>
              <a:rPr lang="en-US" sz="36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Step Zero is about establishing a factual baseline.</a:t>
            </a:r>
          </a:p>
          <a:p>
            <a:pPr algn="l">
              <a:lnSpc>
                <a:spcPts val="4382"/>
              </a:lnSpc>
            </a:pPr>
          </a:p>
          <a:p>
            <a:pPr algn="l">
              <a:lnSpc>
                <a:spcPts val="4382"/>
              </a:lnSpc>
            </a:pPr>
            <a:r>
              <a:rPr lang="en-US" sz="36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We want to return from Peru knowing:</a:t>
            </a:r>
          </a:p>
          <a:p>
            <a:pPr algn="l">
              <a:lnSpc>
                <a:spcPts val="4382"/>
              </a:lnSpc>
            </a:pPr>
          </a:p>
          <a:p>
            <a:pPr algn="l">
              <a:lnSpc>
                <a:spcPts val="4382"/>
              </a:lnSpc>
            </a:pPr>
            <a:r>
              <a:rPr lang="en-US" sz="36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What is legally possible</a:t>
            </a:r>
          </a:p>
          <a:p>
            <a:pPr algn="l">
              <a:lnSpc>
                <a:spcPts val="4382"/>
              </a:lnSpc>
            </a:pPr>
            <a:r>
              <a:rPr lang="en-US" sz="36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What hardware is practical and available</a:t>
            </a:r>
          </a:p>
          <a:p>
            <a:pPr algn="l">
              <a:lnSpc>
                <a:spcPts val="4382"/>
              </a:lnSpc>
            </a:pPr>
            <a:r>
              <a:rPr lang="en-US" sz="36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What works in Lima</a:t>
            </a:r>
          </a:p>
          <a:p>
            <a:pPr algn="l">
              <a:lnSpc>
                <a:spcPts val="4382"/>
              </a:lnSpc>
            </a:pPr>
            <a:r>
              <a:rPr lang="en-US" sz="36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What works in the field</a:t>
            </a:r>
          </a:p>
          <a:p>
            <a:pPr algn="l">
              <a:lnSpc>
                <a:spcPts val="4382"/>
              </a:lnSpc>
            </a:pPr>
            <a:r>
              <a:rPr lang="en-US" sz="36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How Meshtastic and MeshCore compare in these environments</a:t>
            </a:r>
          </a:p>
          <a:p>
            <a:pPr algn="l">
              <a:lnSpc>
                <a:spcPts val="4382"/>
              </a:lnSpc>
            </a:pPr>
            <a:r>
              <a:rPr lang="en-US" sz="36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What the communities actually need</a:t>
            </a:r>
          </a:p>
          <a:p>
            <a:pPr algn="l">
              <a:lnSpc>
                <a:spcPts val="4382"/>
              </a:lnSpc>
            </a:pPr>
            <a:r>
              <a:rPr lang="en-US" sz="36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• What the real costs and maintenance requirements look like</a:t>
            </a:r>
          </a:p>
          <a:p>
            <a:pPr algn="l">
              <a:lnSpc>
                <a:spcPts val="4382"/>
              </a:lnSpc>
            </a:pPr>
          </a:p>
          <a:p>
            <a:pPr algn="l">
              <a:lnSpc>
                <a:spcPts val="4382"/>
              </a:lnSpc>
            </a:pPr>
            <a:r>
              <a:rPr lang="en-US" sz="36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Only then can we make an informed decision about whether a larger community project makes sense.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8038" y="920601"/>
            <a:ext cx="1615192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What com</a:t>
            </a:r>
            <a:r>
              <a:rPr lang="en-US" b="true" sz="4200">
                <a:solidFill>
                  <a:srgbClr val="00000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es after Step Zero?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2312" y="568176"/>
            <a:ext cx="1615192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621427" y="1339701"/>
            <a:ext cx="13013695" cy="915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inzel"/>
                <a:ea typeface="Cinzel"/>
                <a:cs typeface="Cinzel"/>
                <a:sym typeface="Cinzel"/>
              </a:rPr>
              <a:t>COMMUNITY FREQUENCY</a:t>
            </a:r>
          </a:p>
          <a:p>
            <a:pPr algn="ctr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People Connected Further.</a:t>
            </a:r>
          </a:p>
          <a:p>
            <a:pPr algn="l">
              <a:lnSpc>
                <a:spcPts val="4502"/>
              </a:lnSpc>
            </a:pPr>
          </a:p>
          <a:p>
            <a:pPr algn="l">
              <a:lnSpc>
                <a:spcPts val="4502"/>
              </a:lnSpc>
            </a:pPr>
            <a:r>
              <a:rPr lang="en-US" sz="3752" b="true">
                <a:solidFill>
                  <a:srgbClr val="5D6D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Website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https://www.communityfrequency.org</a:t>
            </a:r>
          </a:p>
          <a:p>
            <a:pPr algn="l">
              <a:lnSpc>
                <a:spcPts val="4502"/>
              </a:lnSpc>
            </a:pPr>
          </a:p>
          <a:p>
            <a:pPr algn="l">
              <a:lnSpc>
                <a:spcPts val="4502"/>
              </a:lnSpc>
            </a:pPr>
            <a:r>
              <a:rPr lang="en-US" sz="3752" b="true">
                <a:solidFill>
                  <a:srgbClr val="5D6D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</a:t>
            </a: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752" b="true">
                <a:solidFill>
                  <a:srgbClr val="5D6D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documentation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https://github.com/jurelex/community-frequency</a:t>
            </a:r>
          </a:p>
          <a:p>
            <a:pPr algn="l">
              <a:lnSpc>
                <a:spcPts val="4502"/>
              </a:lnSpc>
            </a:pPr>
          </a:p>
          <a:p>
            <a:pPr algn="l">
              <a:lnSpc>
                <a:spcPts val="4502"/>
              </a:lnSpc>
            </a:pPr>
            <a:r>
              <a:rPr lang="en-US" sz="3752" b="true">
                <a:solidFill>
                  <a:srgbClr val="5D6D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GoFundMe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https://www.gofundme.com/f/community-frequency</a:t>
            </a:r>
          </a:p>
          <a:p>
            <a:pPr algn="l">
              <a:lnSpc>
                <a:spcPts val="4502"/>
              </a:lnSpc>
            </a:pPr>
          </a:p>
          <a:p>
            <a:pPr algn="l">
              <a:lnSpc>
                <a:spcPts val="4502"/>
              </a:lnSpc>
            </a:pPr>
            <a:r>
              <a:rPr lang="en-US" sz="3752" b="true">
                <a:solidFill>
                  <a:srgbClr val="5D6D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Contact</a:t>
            </a:r>
          </a:p>
          <a:p>
            <a:pPr algn="l">
              <a:lnSpc>
                <a:spcPts val="4502"/>
              </a:lnSpc>
            </a:pPr>
            <a:r>
              <a:rPr lang="en-US" sz="3752">
                <a:solidFill>
                  <a:srgbClr val="5D6D6D"/>
                </a:solidFill>
                <a:latin typeface="Calibri (MS)"/>
                <a:ea typeface="Calibri (MS)"/>
                <a:cs typeface="Calibri (MS)"/>
                <a:sym typeface="Calibri (MS)"/>
              </a:rPr>
              <a:t>renato@communityfrequency.org</a:t>
            </a:r>
          </a:p>
          <a:p>
            <a:pPr algn="l">
              <a:lnSpc>
                <a:spcPts val="4502"/>
              </a:lnSpc>
            </a:pPr>
          </a:p>
          <a:p>
            <a:pPr algn="l">
              <a:lnSpc>
                <a:spcPts val="450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07376" y="306705"/>
            <a:ext cx="1615192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Follow the proj</a:t>
            </a:r>
            <a:r>
              <a:rPr lang="en-US" b="true" sz="4200">
                <a:solidFill>
                  <a:srgbClr val="00000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DAHUrPoofiQ</dc:identifier>
  <dcterms:modified xsi:type="dcterms:W3CDTF">2011-08-01T06:04:30Z</dcterms:modified>
  <cp:revision>1</cp:revision>
  <dc:title>Community_Frequency_Step_Zero_Peru_2026_Club_Presentation.pptx</dc:title>
</cp:coreProperties>
</file>